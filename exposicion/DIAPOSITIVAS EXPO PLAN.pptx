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7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9FD"/>
    <a:srgbClr val="D15E1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9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1E890-FEDC-D54A-94F1-E1F4B0F65C3E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BE190-C6BD-0147-AA8E-07240C79A2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80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190-C6BD-0147-AA8E-07240C79A2F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0073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190-C6BD-0147-AA8E-07240C79A2F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2438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190-C6BD-0147-AA8E-07240C79A2F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4808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190-C6BD-0147-AA8E-07240C79A2F0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5635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190-C6BD-0147-AA8E-07240C79A2F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4777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190-C6BD-0147-AA8E-07240C79A2F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5347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760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65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656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57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725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046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7788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3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110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057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151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4D1D-94E9-7E42-B0F6-9D2297204BA9}" type="datetimeFigureOut">
              <a:rPr lang="es-ES" smtClean="0"/>
              <a:t>31/05/2026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47049-ED85-944E-BEF5-02AA2F5CBD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225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2E1C477-3EEA-B10B-5B90-7B879FE2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22EAACF-BFA2-DE41-9F02-193ACB3AF4DD}"/>
              </a:ext>
            </a:extLst>
          </p:cNvPr>
          <p:cNvSpPr/>
          <p:nvPr/>
        </p:nvSpPr>
        <p:spPr>
          <a:xfrm>
            <a:off x="8527552" y="3387904"/>
            <a:ext cx="226031" cy="4417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350" b="1" dirty="0">
                <a:solidFill>
                  <a:srgbClr val="D15E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006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406236" y="2541005"/>
            <a:ext cx="6622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GEHAC</a:t>
            </a:r>
            <a:endParaRPr lang="es-MX" sz="4800" b="1" dirty="0">
              <a:solidFill>
                <a:schemeClr val="accent6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2036617" y="4743878"/>
            <a:ext cx="5721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600" dirty="0">
                <a:solidFill>
                  <a:srgbClr val="0070C0"/>
                </a:solidFill>
                <a:cs typeface="Arial" panose="020B0604020202020204" pitchFamily="34" charset="0"/>
              </a:rPr>
              <a:t>JOANA JAZMIN  REYES DE LA CRUZ </a:t>
            </a:r>
          </a:p>
          <a:p>
            <a:pPr algn="ctr"/>
            <a:r>
              <a:rPr lang="es-US" sz="1600" dirty="0">
                <a:solidFill>
                  <a:srgbClr val="0070C0"/>
                </a:solidFill>
                <a:cs typeface="Arial" panose="020B0604020202020204" pitchFamily="34" charset="0"/>
              </a:rPr>
              <a:t>BRYAN JULIÁN SURIANO RAMIREZ</a:t>
            </a:r>
            <a:endParaRPr lang="es-MX" sz="1600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417EC8C-D30B-8442-8803-A1C60F60AF96}"/>
              </a:ext>
            </a:extLst>
          </p:cNvPr>
          <p:cNvSpPr txBox="1"/>
          <p:nvPr/>
        </p:nvSpPr>
        <p:spPr>
          <a:xfrm>
            <a:off x="7749153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FEFCE4-7D65-2245-BA2F-F4F25C27CF73}"/>
              </a:ext>
            </a:extLst>
          </p:cNvPr>
          <p:cNvSpPr txBox="1"/>
          <p:nvPr/>
        </p:nvSpPr>
        <p:spPr>
          <a:xfrm>
            <a:off x="6912244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023BB42-DCBE-5441-A0E7-EDF67C203B29}"/>
              </a:ext>
            </a:extLst>
          </p:cNvPr>
          <p:cNvSpPr txBox="1"/>
          <p:nvPr/>
        </p:nvSpPr>
        <p:spPr>
          <a:xfrm>
            <a:off x="8694549" y="6555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20E584-24BC-2847-AC99-5023AC6F2E84}"/>
              </a:ext>
            </a:extLst>
          </p:cNvPr>
          <p:cNvSpPr/>
          <p:nvPr/>
        </p:nvSpPr>
        <p:spPr>
          <a:xfrm>
            <a:off x="2384333" y="393784"/>
            <a:ext cx="109105" cy="441789"/>
          </a:xfrm>
          <a:prstGeom prst="rect">
            <a:avLst/>
          </a:prstGeom>
          <a:solidFill>
            <a:srgbClr val="F3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20" b="1" dirty="0">
                <a:solidFill>
                  <a:srgbClr val="D15E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8E79D4-6843-B236-9CBC-5E12E3AF1819}"/>
              </a:ext>
            </a:extLst>
          </p:cNvPr>
          <p:cNvSpPr txBox="1"/>
          <p:nvPr/>
        </p:nvSpPr>
        <p:spPr>
          <a:xfrm>
            <a:off x="3090150" y="3577044"/>
            <a:ext cx="325464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b="1" dirty="0"/>
              <a:t>GESTOR DE HORAS ACADÉMICAS Y CULTURALES </a:t>
            </a:r>
          </a:p>
        </p:txBody>
      </p:sp>
    </p:spTree>
    <p:extLst>
      <p:ext uri="{BB962C8B-B14F-4D97-AF65-F5344CB8AC3E}">
        <p14:creationId xmlns:p14="http://schemas.microsoft.com/office/powerpoint/2010/main" val="3892848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8417EC8C-D30B-8442-8803-A1C60F60AF96}"/>
              </a:ext>
            </a:extLst>
          </p:cNvPr>
          <p:cNvSpPr txBox="1"/>
          <p:nvPr/>
        </p:nvSpPr>
        <p:spPr>
          <a:xfrm>
            <a:off x="7749153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FEFCE4-7D65-2245-BA2F-F4F25C27CF73}"/>
              </a:ext>
            </a:extLst>
          </p:cNvPr>
          <p:cNvSpPr txBox="1"/>
          <p:nvPr/>
        </p:nvSpPr>
        <p:spPr>
          <a:xfrm>
            <a:off x="6912244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023BB42-DCBE-5441-A0E7-EDF67C203B29}"/>
              </a:ext>
            </a:extLst>
          </p:cNvPr>
          <p:cNvSpPr txBox="1"/>
          <p:nvPr/>
        </p:nvSpPr>
        <p:spPr>
          <a:xfrm>
            <a:off x="8694549" y="6555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20E584-24BC-2847-AC99-5023AC6F2E84}"/>
              </a:ext>
            </a:extLst>
          </p:cNvPr>
          <p:cNvSpPr/>
          <p:nvPr/>
        </p:nvSpPr>
        <p:spPr>
          <a:xfrm>
            <a:off x="2384333" y="393784"/>
            <a:ext cx="109105" cy="441789"/>
          </a:xfrm>
          <a:prstGeom prst="rect">
            <a:avLst/>
          </a:prstGeom>
          <a:solidFill>
            <a:srgbClr val="F3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20" b="1" dirty="0">
                <a:solidFill>
                  <a:srgbClr val="D15E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BB821B-9AE3-A3BE-E9E1-224298685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149" y="844682"/>
            <a:ext cx="7772400" cy="1470025"/>
          </a:xfrm>
        </p:spPr>
        <p:txBody>
          <a:bodyPr/>
          <a:lstStyle/>
          <a:p>
            <a:r>
              <a:rPr lang="es-US" b="1" dirty="0"/>
              <a:t>¿QUÉ ES GEHAC?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153700-0A7D-6F79-1269-0B232FABE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822" y="1579694"/>
            <a:ext cx="4704166" cy="4103681"/>
          </a:xfrm>
        </p:spPr>
        <p:txBody>
          <a:bodyPr anchor="ctr">
            <a:normAutofit/>
          </a:bodyPr>
          <a:lstStyle/>
          <a:p>
            <a:pPr algn="l"/>
            <a:r>
              <a:rPr lang="es-US" sz="1600" b="1" dirty="0">
                <a:solidFill>
                  <a:schemeClr val="tx1"/>
                </a:solidFill>
              </a:rPr>
              <a:t>GEHAC es una plataforma web que permite administrar estudiantes, actividades, carreras, semestres, departamentos y horas académicas y culturales en un solo sistema. </a:t>
            </a:r>
          </a:p>
          <a:p>
            <a:pPr algn="l"/>
            <a:r>
              <a:rPr lang="es-US" sz="1600" b="1" dirty="0">
                <a:solidFill>
                  <a:schemeClr val="tx1"/>
                </a:solidFill>
              </a:rPr>
              <a:t>El sistema está diseñado para tres tipos de usuarios:</a:t>
            </a:r>
          </a:p>
          <a:p>
            <a:pPr algn="l"/>
            <a:r>
              <a:rPr lang="es-US" sz="1600" b="1" dirty="0">
                <a:solidFill>
                  <a:schemeClr val="tx1"/>
                </a:solidFill>
              </a:rPr>
              <a:t> • Administrador </a:t>
            </a:r>
          </a:p>
          <a:p>
            <a:pPr algn="l"/>
            <a:r>
              <a:rPr lang="es-US" sz="1600" b="1" dirty="0">
                <a:solidFill>
                  <a:schemeClr val="tx1"/>
                </a:solidFill>
              </a:rPr>
              <a:t>• Coordinador </a:t>
            </a:r>
          </a:p>
          <a:p>
            <a:pPr algn="l"/>
            <a:r>
              <a:rPr lang="es-US" sz="1600" b="1" dirty="0">
                <a:solidFill>
                  <a:schemeClr val="tx1"/>
                </a:solidFill>
              </a:rPr>
              <a:t>• Alumno</a:t>
            </a:r>
          </a:p>
          <a:p>
            <a:pPr algn="l"/>
            <a:r>
              <a:rPr lang="es-US" sz="1600" b="1" dirty="0">
                <a:solidFill>
                  <a:schemeClr val="tx1"/>
                </a:solidFill>
              </a:rPr>
              <a:t> Cada uno tiene diferentes permisos de acuerdo con sus responsabilidades</a:t>
            </a:r>
            <a:r>
              <a:rPr lang="es-US" sz="16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CC0AF3-7214-D176-1DA0-56B094B65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88" y="2314707"/>
            <a:ext cx="3841780" cy="275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7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290F4-7EA5-3B36-9360-802D2413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53" y="500525"/>
            <a:ext cx="8229600" cy="2174003"/>
          </a:xfrm>
        </p:spPr>
        <p:txBody>
          <a:bodyPr>
            <a:noAutofit/>
          </a:bodyPr>
          <a:lstStyle/>
          <a:p>
            <a:r>
              <a:rPr lang="es-US" sz="3200" b="1" dirty="0"/>
              <a:t>Crecimiento de Inicio de Sesión y Seguridad</a:t>
            </a:r>
            <a:br>
              <a:rPr lang="es-US" sz="3200" b="1" dirty="0"/>
            </a:br>
            <a:r>
              <a:rPr lang="es-US" sz="3200" b="1" dirty="0"/>
              <a:t> Uno de los aspectos más importantes del sistema es la seguridad</a:t>
            </a:r>
            <a:r>
              <a:rPr lang="es-US" sz="3200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4AD251-0C6E-BDCE-F488-BFC630F00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88" y="2851155"/>
            <a:ext cx="4535858" cy="2664635"/>
          </a:xfrm>
        </p:spPr>
        <p:txBody>
          <a:bodyPr>
            <a:normAutofit/>
          </a:bodyPr>
          <a:lstStyle/>
          <a:p>
            <a:r>
              <a:rPr lang="es-US" sz="1600" b="1" dirty="0"/>
              <a:t>Cuando un usuario intenta acceder a cualquier archivo del sistema sin iniciar sesión, automáticamente es redirigido a la pantalla de inicio de sesión. Esto garantiza que únicamente usuarios autorizados puedan acceder a la información</a:t>
            </a:r>
            <a:r>
              <a:rPr lang="es-US" sz="16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C84FFD-45FA-023C-52EA-07B3F1CE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97" r="27201" b="-3694"/>
          <a:stretch>
            <a:fillRect/>
          </a:stretch>
        </p:blipFill>
        <p:spPr>
          <a:xfrm>
            <a:off x="5328553" y="2851155"/>
            <a:ext cx="2776355" cy="322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9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8417EC8C-D30B-8442-8803-A1C60F60AF96}"/>
              </a:ext>
            </a:extLst>
          </p:cNvPr>
          <p:cNvSpPr txBox="1"/>
          <p:nvPr/>
        </p:nvSpPr>
        <p:spPr>
          <a:xfrm>
            <a:off x="7749153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FEFCE4-7D65-2245-BA2F-F4F25C27CF73}"/>
              </a:ext>
            </a:extLst>
          </p:cNvPr>
          <p:cNvSpPr txBox="1"/>
          <p:nvPr/>
        </p:nvSpPr>
        <p:spPr>
          <a:xfrm>
            <a:off x="6912244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023BB42-DCBE-5441-A0E7-EDF67C203B29}"/>
              </a:ext>
            </a:extLst>
          </p:cNvPr>
          <p:cNvSpPr txBox="1"/>
          <p:nvPr/>
        </p:nvSpPr>
        <p:spPr>
          <a:xfrm>
            <a:off x="8694549" y="6555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20E584-24BC-2847-AC99-5023AC6F2E84}"/>
              </a:ext>
            </a:extLst>
          </p:cNvPr>
          <p:cNvSpPr/>
          <p:nvPr/>
        </p:nvSpPr>
        <p:spPr>
          <a:xfrm>
            <a:off x="2384333" y="393784"/>
            <a:ext cx="109105" cy="441789"/>
          </a:xfrm>
          <a:prstGeom prst="rect">
            <a:avLst/>
          </a:prstGeom>
          <a:solidFill>
            <a:srgbClr val="F3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20" b="1" dirty="0">
                <a:solidFill>
                  <a:srgbClr val="D15E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5AAF8-552E-6A5C-D7EE-07D0264A3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880" y="738946"/>
            <a:ext cx="7772400" cy="1470025"/>
          </a:xfrm>
        </p:spPr>
        <p:txBody>
          <a:bodyPr>
            <a:normAutofit/>
          </a:bodyPr>
          <a:lstStyle/>
          <a:p>
            <a:r>
              <a:rPr lang="es-US" sz="4000" b="1" dirty="0" err="1"/>
              <a:t>Dashboard</a:t>
            </a:r>
            <a:r>
              <a:rPr lang="es-US" sz="4000" b="1" dirty="0"/>
              <a:t> Principal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6C93E-D467-40D1-1395-990EC0615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8" y="2896430"/>
            <a:ext cx="4420202" cy="2561056"/>
          </a:xfrm>
        </p:spPr>
        <p:txBody>
          <a:bodyPr>
            <a:normAutofit lnSpcReduction="10000"/>
          </a:bodyPr>
          <a:lstStyle/>
          <a:p>
            <a:pPr algn="l"/>
            <a:r>
              <a:rPr lang="es-US" sz="1800" b="1" dirty="0">
                <a:solidFill>
                  <a:schemeClr val="tx1"/>
                </a:solidFill>
              </a:rPr>
              <a:t>El </a:t>
            </a:r>
            <a:r>
              <a:rPr lang="es-US" sz="1800" b="1" dirty="0" err="1">
                <a:solidFill>
                  <a:schemeClr val="tx1"/>
                </a:solidFill>
              </a:rPr>
              <a:t>Dashboard</a:t>
            </a:r>
            <a:r>
              <a:rPr lang="es-US" sz="1800" b="1" dirty="0">
                <a:solidFill>
                  <a:schemeClr val="tx1"/>
                </a:solidFill>
              </a:rPr>
              <a:t> funciona como el centro de control del sistema. Desde aquí se puede acceder a las diferentes secciones dependiendo del rol asignado. </a:t>
            </a:r>
          </a:p>
          <a:p>
            <a:pPr algn="l"/>
            <a:endParaRPr lang="es-US" sz="1800" b="1" dirty="0">
              <a:solidFill>
                <a:schemeClr val="tx1"/>
              </a:solidFill>
            </a:endParaRPr>
          </a:p>
          <a:p>
            <a:pPr algn="l"/>
            <a:r>
              <a:rPr lang="es-US" sz="1800" b="1" dirty="0">
                <a:solidFill>
                  <a:schemeClr val="tx1"/>
                </a:solidFill>
              </a:rPr>
              <a:t>• Por ejemplo, un administrador puede visualizar más opciones que un alumno.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CB5F8C-8664-BB3A-0197-9B3D3A1B1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296" y="2700664"/>
            <a:ext cx="4623906" cy="267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3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8417EC8C-D30B-8442-8803-A1C60F60AF96}"/>
              </a:ext>
            </a:extLst>
          </p:cNvPr>
          <p:cNvSpPr txBox="1"/>
          <p:nvPr/>
        </p:nvSpPr>
        <p:spPr>
          <a:xfrm>
            <a:off x="7749153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FEFCE4-7D65-2245-BA2F-F4F25C27CF73}"/>
              </a:ext>
            </a:extLst>
          </p:cNvPr>
          <p:cNvSpPr txBox="1"/>
          <p:nvPr/>
        </p:nvSpPr>
        <p:spPr>
          <a:xfrm>
            <a:off x="6912244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023BB42-DCBE-5441-A0E7-EDF67C203B29}"/>
              </a:ext>
            </a:extLst>
          </p:cNvPr>
          <p:cNvSpPr txBox="1"/>
          <p:nvPr/>
        </p:nvSpPr>
        <p:spPr>
          <a:xfrm>
            <a:off x="8694549" y="6555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20E584-24BC-2847-AC99-5023AC6F2E84}"/>
              </a:ext>
            </a:extLst>
          </p:cNvPr>
          <p:cNvSpPr/>
          <p:nvPr/>
        </p:nvSpPr>
        <p:spPr>
          <a:xfrm>
            <a:off x="2384333" y="393784"/>
            <a:ext cx="109105" cy="441789"/>
          </a:xfrm>
          <a:prstGeom prst="rect">
            <a:avLst/>
          </a:prstGeom>
          <a:solidFill>
            <a:srgbClr val="F3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20" b="1" dirty="0">
                <a:solidFill>
                  <a:srgbClr val="D15E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063169-500B-8A20-0C1A-30613A793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149" y="614678"/>
            <a:ext cx="7772400" cy="1470025"/>
          </a:xfrm>
        </p:spPr>
        <p:txBody>
          <a:bodyPr/>
          <a:lstStyle/>
          <a:p>
            <a:r>
              <a:rPr lang="es-US" b="1" dirty="0"/>
              <a:t>Gestión de Roles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30937-32E8-06C9-DD30-6A49B48EA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281" y="2641040"/>
            <a:ext cx="4454537" cy="2274312"/>
          </a:xfrm>
        </p:spPr>
        <p:txBody>
          <a:bodyPr anchor="ctr">
            <a:normAutofit/>
          </a:bodyPr>
          <a:lstStyle/>
          <a:p>
            <a:pPr algn="l"/>
            <a:r>
              <a:rPr lang="es-US" sz="1800" b="1" dirty="0">
                <a:solidFill>
                  <a:schemeClr val="tx1"/>
                </a:solidFill>
              </a:rPr>
              <a:t>El sistema también cuenta con un módulo para administrar roles. Aquí podemos definir los diferentes tipos de usuarios y organizar los permisos que tendrá cada uno dentro de la plataforma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235FFB-9647-B524-05B2-B15D27BAB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975" y="3413224"/>
            <a:ext cx="4454537" cy="272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9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8417EC8C-D30B-8442-8803-A1C60F60AF96}"/>
              </a:ext>
            </a:extLst>
          </p:cNvPr>
          <p:cNvSpPr txBox="1"/>
          <p:nvPr/>
        </p:nvSpPr>
        <p:spPr>
          <a:xfrm>
            <a:off x="7749153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FEFCE4-7D65-2245-BA2F-F4F25C27CF73}"/>
              </a:ext>
            </a:extLst>
          </p:cNvPr>
          <p:cNvSpPr txBox="1"/>
          <p:nvPr/>
        </p:nvSpPr>
        <p:spPr>
          <a:xfrm>
            <a:off x="6912244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023BB42-DCBE-5441-A0E7-EDF67C203B29}"/>
              </a:ext>
            </a:extLst>
          </p:cNvPr>
          <p:cNvSpPr txBox="1"/>
          <p:nvPr/>
        </p:nvSpPr>
        <p:spPr>
          <a:xfrm>
            <a:off x="8694549" y="6555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20E584-24BC-2847-AC99-5023AC6F2E84}"/>
              </a:ext>
            </a:extLst>
          </p:cNvPr>
          <p:cNvSpPr/>
          <p:nvPr/>
        </p:nvSpPr>
        <p:spPr>
          <a:xfrm>
            <a:off x="2384333" y="393784"/>
            <a:ext cx="109105" cy="441789"/>
          </a:xfrm>
          <a:prstGeom prst="rect">
            <a:avLst/>
          </a:prstGeom>
          <a:solidFill>
            <a:srgbClr val="F3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20" b="1" dirty="0">
                <a:solidFill>
                  <a:srgbClr val="D15E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BFB262-229A-7B47-F41A-5D0B7BD34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05" y="791777"/>
            <a:ext cx="7772400" cy="1470025"/>
          </a:xfrm>
        </p:spPr>
        <p:txBody>
          <a:bodyPr>
            <a:normAutofit/>
          </a:bodyPr>
          <a:lstStyle/>
          <a:p>
            <a:r>
              <a:rPr lang="es-US" sz="2800" b="1" dirty="0"/>
              <a:t>Gestión de Usuarios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1FDA57-1DD7-0F51-A13A-CD1FEA969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444" y="2350152"/>
            <a:ext cx="3789489" cy="2872409"/>
          </a:xfrm>
        </p:spPr>
        <p:txBody>
          <a:bodyPr anchor="ctr">
            <a:normAutofit fontScale="47500" lnSpcReduction="20000"/>
          </a:bodyPr>
          <a:lstStyle/>
          <a:p>
            <a:pPr algn="l"/>
            <a:r>
              <a:rPr lang="es-US" b="1" dirty="0">
                <a:solidFill>
                  <a:schemeClr val="tx1"/>
                </a:solidFill>
              </a:rPr>
              <a:t>En el módulo de usuarios se pueden crear, editar y eliminar usuarios. Además, es posible asignar roles específicos como:</a:t>
            </a:r>
          </a:p>
          <a:p>
            <a:pPr algn="l"/>
            <a:endParaRPr lang="es-US" b="1" dirty="0">
              <a:solidFill>
                <a:schemeClr val="tx1"/>
              </a:solidFill>
            </a:endParaRPr>
          </a:p>
          <a:p>
            <a:pPr algn="l"/>
            <a:r>
              <a:rPr lang="es-US" b="1" dirty="0">
                <a:solidFill>
                  <a:schemeClr val="tx1"/>
                </a:solidFill>
              </a:rPr>
              <a:t> • Administrador </a:t>
            </a:r>
          </a:p>
          <a:p>
            <a:pPr algn="l"/>
            <a:r>
              <a:rPr lang="es-US" b="1" dirty="0">
                <a:solidFill>
                  <a:schemeClr val="tx1"/>
                </a:solidFill>
              </a:rPr>
              <a:t>• Coordinador</a:t>
            </a:r>
          </a:p>
          <a:p>
            <a:pPr algn="l"/>
            <a:endParaRPr lang="es-US" b="1" dirty="0">
              <a:solidFill>
                <a:schemeClr val="tx1"/>
              </a:solidFill>
            </a:endParaRPr>
          </a:p>
          <a:p>
            <a:pPr algn="l"/>
            <a:r>
              <a:rPr lang="es-US" b="1" dirty="0">
                <a:solidFill>
                  <a:schemeClr val="tx1"/>
                </a:solidFill>
              </a:rPr>
              <a:t> Esto permite mantener un control adecuado sobre quién tiene acceso a determinadas funciones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53D6677-27A4-5B0B-D75B-460975A36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943" y="2655422"/>
            <a:ext cx="4601138" cy="226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8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8417EC8C-D30B-8442-8803-A1C60F60AF96}"/>
              </a:ext>
            </a:extLst>
          </p:cNvPr>
          <p:cNvSpPr txBox="1"/>
          <p:nvPr/>
        </p:nvSpPr>
        <p:spPr>
          <a:xfrm>
            <a:off x="7749153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FEFCE4-7D65-2245-BA2F-F4F25C27CF73}"/>
              </a:ext>
            </a:extLst>
          </p:cNvPr>
          <p:cNvSpPr txBox="1"/>
          <p:nvPr/>
        </p:nvSpPr>
        <p:spPr>
          <a:xfrm>
            <a:off x="6912244" y="6571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023BB42-DCBE-5441-A0E7-EDF67C203B29}"/>
              </a:ext>
            </a:extLst>
          </p:cNvPr>
          <p:cNvSpPr txBox="1"/>
          <p:nvPr/>
        </p:nvSpPr>
        <p:spPr>
          <a:xfrm>
            <a:off x="8694549" y="6555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20E584-24BC-2847-AC99-5023AC6F2E84}"/>
              </a:ext>
            </a:extLst>
          </p:cNvPr>
          <p:cNvSpPr/>
          <p:nvPr/>
        </p:nvSpPr>
        <p:spPr>
          <a:xfrm>
            <a:off x="2384333" y="393784"/>
            <a:ext cx="109105" cy="441789"/>
          </a:xfrm>
          <a:prstGeom prst="rect">
            <a:avLst/>
          </a:prstGeom>
          <a:solidFill>
            <a:srgbClr val="F3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20" b="1" dirty="0">
                <a:solidFill>
                  <a:srgbClr val="D15E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8BC5DA-5C81-F856-9CC5-77C863D99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7751" y="614678"/>
            <a:ext cx="7772400" cy="1470025"/>
          </a:xfrm>
        </p:spPr>
        <p:txBody>
          <a:bodyPr/>
          <a:lstStyle/>
          <a:p>
            <a:r>
              <a:rPr lang="es-US" b="1" dirty="0"/>
              <a:t>Conclusión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1DBF3F-C1A9-382E-315B-53AD894A1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462998" y="1229440"/>
            <a:ext cx="5856858" cy="4743074"/>
          </a:xfrm>
        </p:spPr>
        <p:txBody>
          <a:bodyPr anchor="ctr">
            <a:normAutofit/>
          </a:bodyPr>
          <a:lstStyle/>
          <a:p>
            <a:pPr algn="l"/>
            <a:r>
              <a:rPr lang="es-US" sz="1800" b="1" dirty="0">
                <a:solidFill>
                  <a:schemeClr val="tx1"/>
                </a:solidFill>
              </a:rPr>
              <a:t>Para concluir, GEHAC es una solución tecnológica que permite administrar de forma eficiente las horas académicas y culturales de los estudiantes.</a:t>
            </a:r>
          </a:p>
          <a:p>
            <a:pPr algn="l"/>
            <a:r>
              <a:rPr lang="es-US" sz="1800" b="1" dirty="0">
                <a:solidFill>
                  <a:schemeClr val="tx1"/>
                </a:solidFill>
              </a:rPr>
              <a:t> Entre sus principales beneficios destacan: Automatización de procesos. </a:t>
            </a:r>
          </a:p>
          <a:p>
            <a:pPr algn="l"/>
            <a:r>
              <a:rPr lang="es-US" sz="1800" b="1" dirty="0">
                <a:solidFill>
                  <a:schemeClr val="tx1"/>
                </a:solidFill>
              </a:rPr>
              <a:t>• Reducción de errores administrativos. </a:t>
            </a:r>
          </a:p>
          <a:p>
            <a:pPr algn="l"/>
            <a:r>
              <a:rPr lang="es-US" sz="1800" b="1" dirty="0">
                <a:solidFill>
                  <a:schemeClr val="tx1"/>
                </a:solidFill>
              </a:rPr>
              <a:t>• Mejor organización de la información.</a:t>
            </a:r>
          </a:p>
          <a:p>
            <a:pPr algn="l"/>
            <a:r>
              <a:rPr lang="es-US" sz="1800" b="1" dirty="0">
                <a:solidFill>
                  <a:schemeClr val="tx1"/>
                </a:solidFill>
              </a:rPr>
              <a:t> • Control eficiente del avance estudiantil.</a:t>
            </a:r>
          </a:p>
          <a:p>
            <a:pPr algn="l"/>
            <a:r>
              <a:rPr lang="es-US" sz="1800" b="1" dirty="0">
                <a:solidFill>
                  <a:schemeClr val="tx1"/>
                </a:solidFill>
              </a:rPr>
              <a:t> • Mayor seguridad y accesibilidad.</a:t>
            </a:r>
          </a:p>
          <a:p>
            <a:pPr algn="l"/>
            <a:r>
              <a:rPr lang="es-US" sz="1800" b="1" dirty="0">
                <a:solidFill>
                  <a:schemeClr val="tx1"/>
                </a:solidFill>
              </a:rPr>
              <a:t> Gracias a estas características, GEHAC contribuye a mejorar la gestión académica dentro de la universidad.</a:t>
            </a:r>
          </a:p>
        </p:txBody>
      </p:sp>
    </p:spTree>
    <p:extLst>
      <p:ext uri="{BB962C8B-B14F-4D97-AF65-F5344CB8AC3E}">
        <p14:creationId xmlns:p14="http://schemas.microsoft.com/office/powerpoint/2010/main" val="3371259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31</Words>
  <Application>Microsoft Office PowerPoint</Application>
  <PresentationFormat>Presentación en pantalla (4:3)</PresentationFormat>
  <Paragraphs>23</Paragraphs>
  <Slides>8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¿QUÉ ES GEHAC?</vt:lpstr>
      <vt:lpstr>Crecimiento de Inicio de Sesión y Seguridad  Uno de los aspectos más importantes del sistema es la seguridad.</vt:lpstr>
      <vt:lpstr>Dashboard Principal</vt:lpstr>
      <vt:lpstr>Gestión de Roles</vt:lpstr>
      <vt:lpstr>Gestión de Usuarios</vt:lpstr>
      <vt:lpstr>Conclusión</vt:lpstr>
    </vt:vector>
  </TitlesOfParts>
  <Company>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 y</dc:creator>
  <cp:lastModifiedBy>Jazmin Ryes</cp:lastModifiedBy>
  <cp:revision>36</cp:revision>
  <dcterms:created xsi:type="dcterms:W3CDTF">2021-05-25T14:29:31Z</dcterms:created>
  <dcterms:modified xsi:type="dcterms:W3CDTF">2026-05-31T16:21:03Z</dcterms:modified>
</cp:coreProperties>
</file>